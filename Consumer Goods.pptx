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_rels/theme1.xml.rels" ContentType="application/vnd.openxmlformats-package.relationships+xml"/>
  <Override PartName="/ppt/theme/_rels/theme2.xml.rels" ContentType="application/vnd.openxmlformats-package.relationships+xml"/>
  <Override PartName="/ppt/theme/_rels/theme3.xml.rels" ContentType="application/vnd.openxmlformats-package.relationships+xml"/>
  <Override PartName="/ppt/theme/_rels/theme4.xml.rels" ContentType="application/vnd.openxmlformats-package.relationships+xml"/>
  <Override PartName="/ppt/theme/_rels/theme5.xml.rels" ContentType="application/vnd.openxmlformats-package.relationships+xml"/>
  <Override PartName="/ppt/theme/_rels/theme6.xml.rels" ContentType="application/vnd.openxmlformats-package.relationships+xml"/>
  <Override PartName="/ppt/theme/_rels/theme7.xml.rels" ContentType="application/vnd.openxmlformats-package.relationships+xml"/>
  <Override PartName="/ppt/theme/_rels/theme8.xml.rels" ContentType="application/vnd.openxmlformats-package.relationships+xml"/>
  <Override PartName="/ppt/theme/_rels/theme9.xml.rels" ContentType="application/vnd.openxmlformats-package.relationships+xml"/>
  <Override PartName="/ppt/theme/_rels/theme10.xml.rels" ContentType="application/vnd.openxmlformats-package.relationships+xml"/>
  <Override PartName="/ppt/theme/_rels/theme11.xml.rels" ContentType="application/vnd.openxmlformats-package.relationships+xml"/>
  <Override PartName="/ppt/theme/_rels/theme12.xml.rels" ContentType="application/vnd.openxmlformats-package.relationships+xml"/>
  <Override PartName="/ppt/theme/_rels/theme13.xml.rels" ContentType="application/vnd.openxmlformats-package.relationships+xml"/>
  <Override PartName="/ppt/theme/_rels/theme14.xml.rels" ContentType="application/vnd.openxmlformats-package.relationships+xml"/>
  <Override PartName="/ppt/theme/_rels/theme15.xml.rels" ContentType="application/vnd.openxmlformats-package.relationships+xml"/>
  <Override PartName="/ppt/theme/_rels/theme16.xml.rels" ContentType="application/vnd.openxmlformats-package.relationships+xml"/>
  <Override PartName="/ppt/theme/_rels/theme17.xml.rels" ContentType="application/vnd.openxmlformats-package.relationships+xml"/>
  <Override PartName="/ppt/media/image28.png" ContentType="image/png"/>
  <Override PartName="/ppt/media/image1.jpeg" ContentType="image/jpeg"/>
  <Override PartName="/ppt/media/image17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wmf" ContentType="image/x-wmf"/>
  <Override PartName="/ppt/media/image8.wmf" ContentType="image/x-wmf"/>
  <Override PartName="/ppt/media/image9.jpeg" ContentType="image/jpeg"/>
  <Override PartName="/ppt/media/image10.jpeg" ContentType="image/jpeg"/>
  <Override PartName="/ppt/media/image11.png" ContentType="image/png"/>
  <Override PartName="/ppt/media/image12.jpeg" ContentType="image/jpeg"/>
  <Override PartName="/ppt/media/image13.png" ContentType="image/png"/>
  <Override PartName="/ppt/media/image14.jpeg" ContentType="image/jpeg"/>
  <Override PartName="/ppt/media/image15.png" ContentType="image/png"/>
  <Override PartName="/ppt/media/image16.jpeg" ContentType="image/jpeg"/>
  <Override PartName="/ppt/media/image18.png" ContentType="image/png"/>
  <Override PartName="/ppt/media/image19.jpeg" ContentType="image/jpeg"/>
  <Override PartName="/ppt/media/image22.png" ContentType="image/png"/>
  <Override PartName="/ppt/media/image20.png" ContentType="image/png"/>
  <Override PartName="/ppt/media/image21.jpeg" ContentType="image/jpeg"/>
  <Override PartName="/ppt/media/image23.jpeg" ContentType="image/jpeg"/>
  <Override PartName="/ppt/media/image24.png" ContentType="image/png"/>
  <Override PartName="/ppt/media/image25.jpeg" ContentType="image/jpeg"/>
  <Override PartName="/ppt/media/image27.png" ContentType="image/png"/>
  <Override PartName="/ppt/media/image26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880" cy="96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3680" y="1732320"/>
            <a:ext cx="10352880" cy="40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21C1AD-2B1F-47B9-A08D-5D8168369B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26B74B-35FB-453A-ACDD-07739D2886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A942614-A534-4816-A15F-274103A859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B7E0698-9CE5-47C5-915D-8EBFA20384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4CC83BB-6539-4E25-9D13-3EEFCDC219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A29BD58-FAA8-44FF-B002-70A51F1B07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DE6A4DB-E1F0-4140-9B2E-9828811D36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690A559-12C3-4AD6-B720-A106967721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0B5F799-4022-44BC-A64A-A8AB4A60C2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880" cy="96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913680" y="1732320"/>
            <a:ext cx="10352880" cy="40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DF56184-E81D-469A-8761-96D2AB2102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259BC0B-87E9-4838-9489-D2AD5D2637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880" cy="96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913680" y="1732320"/>
            <a:ext cx="5051880" cy="40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18640" y="1732320"/>
            <a:ext cx="5051880" cy="40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437146C-BF46-414E-83D6-2135EBE03D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15F163B-7F90-46B5-BC2E-AE1A253031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880" cy="96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78A7DCA-A168-4149-BA36-B4F3749495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2C322826-9C32-41AE-BEA1-33DBAA8AAD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4DC3CB35-269F-4BF3-9227-BF82E63A73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9831194-098A-4A6C-9B60-B3F54BE885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880" cy="9698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0C49654-0713-44F3-9B58-35FB877C3311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5" descr="Slate-V2-HD-panoPhotoInset.png"/>
          <p:cNvPicPr/>
          <p:nvPr/>
        </p:nvPicPr>
        <p:blipFill>
          <a:blip r:embed="rId3"/>
          <a:stretch/>
        </p:blipFill>
        <p:spPr>
          <a:xfrm>
            <a:off x="1013760" y="547920"/>
            <a:ext cx="10141200" cy="381600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ftr" idx="4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5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169485-A335-42A3-8693-0EF0709EC94F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6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ftr" idx="7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8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489963-3A84-4A62-8FD3-630D1179C6B2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9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0"/>
          <p:cNvSpPr/>
          <p:nvPr/>
        </p:nvSpPr>
        <p:spPr>
          <a:xfrm>
            <a:off x="990720" y="8848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Calisto MT"/>
              </a:rPr>
              <a:t>“</a:t>
            </a:r>
            <a:endParaRPr b="0" lang="en-IN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2"/>
          <p:cNvSpPr/>
          <p:nvPr/>
        </p:nvSpPr>
        <p:spPr>
          <a:xfrm>
            <a:off x="10504800" y="292824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Calisto MT"/>
              </a:rPr>
              <a:t>”</a:t>
            </a:r>
            <a:endParaRPr b="0" lang="en-IN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B053E0-556A-4C3F-AF36-E006F6462996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C31C2E-8AB4-4294-8DD3-85814D0B8F19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6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17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C752FA-7AE4-46E2-A04A-AAD438397629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8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" descr="Slate-V2-HD-3colPhotoInset.png"/>
          <p:cNvPicPr/>
          <p:nvPr/>
        </p:nvPicPr>
        <p:blipFill>
          <a:blip r:embed="rId3"/>
          <a:stretch/>
        </p:blipFill>
        <p:spPr>
          <a:xfrm>
            <a:off x="897840" y="1818360"/>
            <a:ext cx="3339360" cy="1847160"/>
          </a:xfrm>
          <a:prstGeom prst="rect">
            <a:avLst/>
          </a:prstGeom>
          <a:ln w="0">
            <a:noFill/>
          </a:ln>
        </p:spPr>
      </p:pic>
      <p:pic>
        <p:nvPicPr>
          <p:cNvPr id="26" name="Picture 35" descr="Slate-V2-HD-3colPhotoInset.png"/>
          <p:cNvPicPr/>
          <p:nvPr/>
        </p:nvPicPr>
        <p:blipFill>
          <a:blip r:embed="rId4"/>
          <a:stretch/>
        </p:blipFill>
        <p:spPr>
          <a:xfrm>
            <a:off x="4403880" y="1818360"/>
            <a:ext cx="3339360" cy="1847160"/>
          </a:xfrm>
          <a:prstGeom prst="rect">
            <a:avLst/>
          </a:prstGeom>
          <a:ln w="0">
            <a:noFill/>
          </a:ln>
        </p:spPr>
      </p:pic>
      <p:pic>
        <p:nvPicPr>
          <p:cNvPr id="27" name="Picture 36" descr="Slate-V2-HD-3colPhotoInset.png"/>
          <p:cNvPicPr/>
          <p:nvPr/>
        </p:nvPicPr>
        <p:blipFill>
          <a:blip r:embed="rId5"/>
          <a:stretch/>
        </p:blipFill>
        <p:spPr>
          <a:xfrm>
            <a:off x="7936200" y="1818360"/>
            <a:ext cx="3339360" cy="184716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ftr" idx="19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20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53D538-650A-4156-9CE7-4671B0C4DBDD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21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22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3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0ED77C-665E-4582-BA4C-BC57EC01F30D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4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25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26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10AA06-CA6B-4BAF-9E9D-2D69FB7FBA78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7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880" cy="9698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913680" y="1732320"/>
            <a:ext cx="10352880" cy="4057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8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9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85F79A0-CFF5-4568-9DB1-73F5E9486EFC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dt" idx="30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31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32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D4E63B6-5C76-4683-B016-649BD60F7F4F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3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880" cy="9698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913680" y="1732320"/>
            <a:ext cx="5051880" cy="4057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19000" y="1732320"/>
            <a:ext cx="5051880" cy="4057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34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35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C51B67-381E-4C54-9203-F532A8D09CD2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6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19" descr="Slate-V2-HD-compPhotoInset.png"/>
          <p:cNvPicPr/>
          <p:nvPr/>
        </p:nvPicPr>
        <p:blipFill>
          <a:blip r:embed="rId3"/>
          <a:stretch/>
        </p:blipFill>
        <p:spPr>
          <a:xfrm>
            <a:off x="913680" y="1734480"/>
            <a:ext cx="5088240" cy="414792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20" descr="Slate-V2-HD-compPhotoInset.png"/>
          <p:cNvPicPr/>
          <p:nvPr/>
        </p:nvPicPr>
        <p:blipFill>
          <a:blip r:embed="rId4"/>
          <a:stretch/>
        </p:blipFill>
        <p:spPr>
          <a:xfrm>
            <a:off x="6178320" y="1734480"/>
            <a:ext cx="5088240" cy="414792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37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38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E8684A-8C05-4122-9599-2F1DA4F6D0BD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9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5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2880" cy="96984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40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41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D71991-6885-41E1-8A97-BDFCEF1E7808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42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ftr" idx="43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44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F27134-55E5-4CAF-857F-FE946D26EC86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45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ftr" idx="46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47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6C12D2-C3B6-4135-820D-4EF0A07BB309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48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1" descr="Slate-V2-HD-vertPhotoInset.png"/>
          <p:cNvPicPr/>
          <p:nvPr/>
        </p:nvPicPr>
        <p:blipFill>
          <a:blip r:embed="rId3"/>
          <a:stretch/>
        </p:blipFill>
        <p:spPr>
          <a:xfrm>
            <a:off x="7293600" y="609480"/>
            <a:ext cx="3583440" cy="520416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ftr" idx="49"/>
          </p:nvPr>
        </p:nvSpPr>
        <p:spPr>
          <a:xfrm>
            <a:off x="913680" y="5883120"/>
            <a:ext cx="6672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50"/>
          </p:nvPr>
        </p:nvSpPr>
        <p:spPr>
          <a:xfrm>
            <a:off x="10514160" y="5883120"/>
            <a:ext cx="752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A8B8CFC-90EA-4FF2-A810-3D2402B49FAA}" type="slidenum">
              <a:rPr b="0" lang="en-IN" sz="1000" spc="-1" strike="noStrike">
                <a:solidFill>
                  <a:schemeClr val="dk1">
                    <a:lumMod val="95000"/>
                  </a:schemeClr>
                </a:solidFill>
                <a:latin typeface="Calisto MT"/>
              </a:rPr>
              <a:t>&lt;number&gt;</a:t>
            </a:fld>
            <a:endParaRPr b="0" lang="en-IN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51"/>
          </p:nvPr>
        </p:nvSpPr>
        <p:spPr>
          <a:xfrm>
            <a:off x="767880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370520" y="1769400"/>
            <a:ext cx="9439200" cy="18280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Consumer Goods</a:t>
            </a:r>
            <a:br>
              <a:rPr sz="5400"/>
            </a:br>
            <a:r>
              <a:rPr b="0" lang="en-US" sz="54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Ad_Hoc Insights</a:t>
            </a:r>
            <a:endParaRPr b="0" lang="en-IN" sz="5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Picture 6" descr=""/>
          <p:cNvPicPr/>
          <p:nvPr/>
        </p:nvPicPr>
        <p:blipFill>
          <a:blip r:embed="rId1"/>
          <a:stretch/>
        </p:blipFill>
        <p:spPr>
          <a:xfrm>
            <a:off x="10154520" y="5152680"/>
            <a:ext cx="1329120" cy="132084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8" descr=""/>
          <p:cNvPicPr/>
          <p:nvPr/>
        </p:nvPicPr>
        <p:blipFill>
          <a:blip r:embed="rId2"/>
          <a:stretch/>
        </p:blipFill>
        <p:spPr>
          <a:xfrm>
            <a:off x="1266120" y="5152680"/>
            <a:ext cx="1329120" cy="129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98120" y="195840"/>
            <a:ext cx="10266480" cy="85248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1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798120" y="1049040"/>
            <a:ext cx="10352880" cy="47412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 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Provide the list of markets in which customer "Atliq Exclusive" operates its business in the APAC region.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Picture 5" descr=""/>
          <p:cNvPicPr/>
          <p:nvPr/>
        </p:nvPicPr>
        <p:blipFill>
          <a:blip r:embed="rId1"/>
          <a:stretch/>
        </p:blipFill>
        <p:spPr>
          <a:xfrm>
            <a:off x="4210920" y="4001400"/>
            <a:ext cx="3093840" cy="217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2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02024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 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What is the percentage of unique product increase in 2021 vs. 2020? The final output contains these fields: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unique_products_2020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unique_products_2021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percentage_chg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Picture 4" descr=""/>
          <p:cNvPicPr/>
          <p:nvPr/>
        </p:nvPicPr>
        <p:blipFill>
          <a:blip r:embed="rId1"/>
          <a:stretch/>
        </p:blipFill>
        <p:spPr>
          <a:xfrm>
            <a:off x="2500920" y="4393800"/>
            <a:ext cx="6642000" cy="86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Insights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" name="Content Placeholder 3" descr=""/>
          <p:cNvPicPr/>
          <p:nvPr/>
        </p:nvPicPr>
        <p:blipFill>
          <a:blip r:embed="rId1"/>
          <a:stretch/>
        </p:blipFill>
        <p:spPr>
          <a:xfrm>
            <a:off x="932040" y="1782000"/>
            <a:ext cx="3863160" cy="500400"/>
          </a:xfrm>
          <a:prstGeom prst="rect">
            <a:avLst/>
          </a:prstGeom>
          <a:ln w="0">
            <a:noFill/>
          </a:ln>
          <a:effectLst>
            <a:outerShdw blurRad="25560" dir="0">
              <a:srgbClr val="000000">
                <a:alpha val="46000"/>
              </a:srgbClr>
            </a:outerShdw>
          </a:effectLst>
        </p:spPr>
      </p:pic>
      <p:cxnSp>
        <p:nvCxnSpPr>
          <p:cNvPr id="87" name="Straight Arrow Connector 5"/>
          <p:cNvCxnSpPr/>
          <p:nvPr/>
        </p:nvCxnSpPr>
        <p:spPr>
          <a:xfrm>
            <a:off x="5293800" y="2015280"/>
            <a:ext cx="900720" cy="720"/>
          </a:xfrm>
          <a:prstGeom prst="straightConnector1">
            <a:avLst/>
          </a:prstGeom>
          <a:ln cap="rnd" w="0">
            <a:solidFill>
              <a:srgbClr val="ffffff"/>
            </a:solidFill>
            <a:tailEnd len="med" type="arrow" w="med"/>
          </a:ln>
        </p:spPr>
      </p:cxnSp>
      <p:pic>
        <p:nvPicPr>
          <p:cNvPr id="88" name="Picture 6" descr=""/>
          <p:cNvPicPr/>
          <p:nvPr/>
        </p:nvPicPr>
        <p:blipFill>
          <a:blip r:embed="rId2"/>
          <a:stretch/>
        </p:blipFill>
        <p:spPr>
          <a:xfrm>
            <a:off x="6542280" y="940680"/>
            <a:ext cx="4986360" cy="2996640"/>
          </a:xfrm>
          <a:prstGeom prst="rect">
            <a:avLst/>
          </a:prstGeom>
          <a:ln w="0">
            <a:noFill/>
          </a:ln>
        </p:spPr>
      </p:pic>
      <p:sp>
        <p:nvSpPr>
          <p:cNvPr id="89" name="TextBox 7"/>
          <p:cNvSpPr/>
          <p:nvPr/>
        </p:nvSpPr>
        <p:spPr>
          <a:xfrm>
            <a:off x="1404720" y="4494960"/>
            <a:ext cx="797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unique products increased by 36% in 2021 compared to 2020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3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02024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Provide a report with all the unique product counts for each segment and sort them in descending order of product counts. The final output contains two fields: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segment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product_count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" name="Picture 5" descr=""/>
          <p:cNvPicPr/>
          <p:nvPr/>
        </p:nvPicPr>
        <p:blipFill>
          <a:blip r:embed="rId1"/>
          <a:stretch/>
        </p:blipFill>
        <p:spPr>
          <a:xfrm>
            <a:off x="2790360" y="3691800"/>
            <a:ext cx="3612240" cy="263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Insights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4" name="Straight Arrow Connector 5"/>
          <p:cNvCxnSpPr/>
          <p:nvPr/>
        </p:nvCxnSpPr>
        <p:spPr>
          <a:xfrm>
            <a:off x="5072400" y="2015280"/>
            <a:ext cx="900720" cy="720"/>
          </a:xfrm>
          <a:prstGeom prst="straightConnector1">
            <a:avLst/>
          </a:prstGeom>
          <a:ln cap="rnd" w="0">
            <a:solidFill>
              <a:srgbClr val="ffffff"/>
            </a:solidFill>
            <a:tailEnd len="med" type="arrow" w="med"/>
          </a:ln>
        </p:spPr>
      </p:cxnSp>
      <p:sp>
        <p:nvSpPr>
          <p:cNvPr id="95" name="TextBox 7"/>
          <p:cNvSpPr/>
          <p:nvPr/>
        </p:nvSpPr>
        <p:spPr>
          <a:xfrm>
            <a:off x="1028160" y="4485240"/>
            <a:ext cx="106804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Notebook segment has more unique products and networking segment has less number of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unique products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Picture 8" descr=""/>
          <p:cNvPicPr/>
          <p:nvPr/>
        </p:nvPicPr>
        <p:blipFill>
          <a:blip r:embed="rId1"/>
          <a:stretch/>
        </p:blipFill>
        <p:spPr>
          <a:xfrm>
            <a:off x="1520640" y="1337400"/>
            <a:ext cx="2552400" cy="186408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10" descr=""/>
          <p:cNvPicPr/>
          <p:nvPr/>
        </p:nvPicPr>
        <p:blipFill>
          <a:blip r:embed="rId2"/>
          <a:stretch/>
        </p:blipFill>
        <p:spPr>
          <a:xfrm>
            <a:off x="6095880" y="673200"/>
            <a:ext cx="5684760" cy="341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4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17432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Follow-up: Which segment had the most increase in unique products in 2021 vs 2020? The final output contains these fields: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segment, product_count_2020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product_count_2021, difference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Picture 3" descr=""/>
          <p:cNvPicPr/>
          <p:nvPr/>
        </p:nvPicPr>
        <p:blipFill>
          <a:blip r:embed="rId1"/>
          <a:stretch/>
        </p:blipFill>
        <p:spPr>
          <a:xfrm>
            <a:off x="2489760" y="4030920"/>
            <a:ext cx="7232400" cy="246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Insights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2" name="Straight Arrow Connector 5"/>
          <p:cNvCxnSpPr/>
          <p:nvPr/>
        </p:nvCxnSpPr>
        <p:spPr>
          <a:xfrm>
            <a:off x="5265000" y="2005920"/>
            <a:ext cx="900720" cy="720"/>
          </a:xfrm>
          <a:prstGeom prst="straightConnector1">
            <a:avLst/>
          </a:prstGeom>
          <a:ln cap="rnd" w="0">
            <a:solidFill>
              <a:srgbClr val="ffffff"/>
            </a:solidFill>
            <a:tailEnd len="med" type="arrow" w="med"/>
          </a:ln>
        </p:spPr>
      </p:cxnSp>
      <p:sp>
        <p:nvSpPr>
          <p:cNvPr id="103" name="TextBox 7"/>
          <p:cNvSpPr/>
          <p:nvPr/>
        </p:nvSpPr>
        <p:spPr>
          <a:xfrm>
            <a:off x="1027800" y="4485240"/>
            <a:ext cx="103366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Accessories segment has more difference in unique products than remaining segments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Networking segment has least difference in unique products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Picture 2" descr=""/>
          <p:cNvPicPr/>
          <p:nvPr/>
        </p:nvPicPr>
        <p:blipFill>
          <a:blip r:embed="rId1"/>
          <a:stretch/>
        </p:blipFill>
        <p:spPr>
          <a:xfrm>
            <a:off x="6368760" y="673200"/>
            <a:ext cx="5140440" cy="3089520"/>
          </a:xfrm>
          <a:prstGeom prst="rect">
            <a:avLst/>
          </a:prstGeom>
          <a:ln w="0">
            <a:noFill/>
          </a:ln>
        </p:spPr>
      </p:pic>
      <p:pic>
        <p:nvPicPr>
          <p:cNvPr id="105" name="Picture 4" descr=""/>
          <p:cNvPicPr/>
          <p:nvPr/>
        </p:nvPicPr>
        <p:blipFill>
          <a:blip r:embed="rId2"/>
          <a:stretch/>
        </p:blipFill>
        <p:spPr>
          <a:xfrm>
            <a:off x="564840" y="1451160"/>
            <a:ext cx="4507200" cy="153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5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02024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Get the products that have the highest and lowest manufacturing costs. The final output should contain these fields: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product_code, product, manufacturing_cost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Picture 4" descr=""/>
          <p:cNvPicPr/>
          <p:nvPr/>
        </p:nvPicPr>
        <p:blipFill>
          <a:blip r:embed="rId1"/>
          <a:stretch/>
        </p:blipFill>
        <p:spPr>
          <a:xfrm>
            <a:off x="2481120" y="3336120"/>
            <a:ext cx="6653160" cy="1264320"/>
          </a:xfrm>
          <a:prstGeom prst="rect">
            <a:avLst/>
          </a:prstGeom>
          <a:ln w="0">
            <a:noFill/>
          </a:ln>
        </p:spPr>
      </p:pic>
      <p:sp>
        <p:nvSpPr>
          <p:cNvPr id="109" name="TextBox 6"/>
          <p:cNvSpPr/>
          <p:nvPr/>
        </p:nvSpPr>
        <p:spPr>
          <a:xfrm>
            <a:off x="1209960" y="5029200"/>
            <a:ext cx="73422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AQ HOME Allin1 Gen 2 product has high manufacturing cost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AQ Master wired x1 Ms product has low manufacturing cost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chemeClr val="lt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Arial"/>
              </a:rPr>
              <a:t>Request 6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17432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Generate a report which contains the top 5 customers who received an average high pre_invoice_discount_pct for the fiscal year 2021 and in the Indian market. The final output contains these fields: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customer_code, customer, average_discount_percentage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Picture 5" descr=""/>
          <p:cNvPicPr/>
          <p:nvPr/>
        </p:nvPicPr>
        <p:blipFill>
          <a:blip r:embed="rId1"/>
          <a:stretch/>
        </p:blipFill>
        <p:spPr>
          <a:xfrm>
            <a:off x="3048120" y="3874320"/>
            <a:ext cx="5626440" cy="20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Insights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4" name="Straight Arrow Connector 5"/>
          <p:cNvCxnSpPr/>
          <p:nvPr/>
        </p:nvCxnSpPr>
        <p:spPr>
          <a:xfrm>
            <a:off x="5265000" y="2005920"/>
            <a:ext cx="900720" cy="720"/>
          </a:xfrm>
          <a:prstGeom prst="straightConnector1">
            <a:avLst/>
          </a:prstGeom>
          <a:ln cap="rnd" w="0">
            <a:solidFill>
              <a:srgbClr val="ffffff"/>
            </a:solidFill>
            <a:tailEnd len="med" type="arrow" w="med"/>
          </a:ln>
        </p:spPr>
      </p:cxnSp>
      <p:sp>
        <p:nvSpPr>
          <p:cNvPr id="115" name="TextBox 7"/>
          <p:cNvSpPr/>
          <p:nvPr/>
        </p:nvSpPr>
        <p:spPr>
          <a:xfrm>
            <a:off x="1024920" y="4485240"/>
            <a:ext cx="97563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Top 5 customers in Indian market are Flipkart, Viveks, Ezone, Croma and Amazon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Flipkart has slightly more discount percent compared to remaining 4 customers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Picture 3" descr=""/>
          <p:cNvPicPr/>
          <p:nvPr/>
        </p:nvPicPr>
        <p:blipFill>
          <a:blip r:embed="rId1"/>
          <a:stretch/>
        </p:blipFill>
        <p:spPr>
          <a:xfrm>
            <a:off x="786600" y="1452600"/>
            <a:ext cx="4273920" cy="153108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8" descr=""/>
          <p:cNvPicPr/>
          <p:nvPr/>
        </p:nvPicPr>
        <p:blipFill>
          <a:blip r:embed="rId2"/>
          <a:stretch/>
        </p:blipFill>
        <p:spPr>
          <a:xfrm>
            <a:off x="6368760" y="840600"/>
            <a:ext cx="5032440" cy="302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7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17432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Get the complete report of the Gross sales amount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for the customer “Atliq Exclusive” for each month.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This analysis helps to get an idea of low and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high-performing months and take strategic decisions.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The final report contains these columns: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Month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Year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Gross sales Amount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Picture 4" descr=""/>
          <p:cNvPicPr/>
          <p:nvPr/>
        </p:nvPicPr>
        <p:blipFill>
          <a:blip r:embed="rId1"/>
          <a:stretch/>
        </p:blipFill>
        <p:spPr>
          <a:xfrm>
            <a:off x="7743960" y="1828800"/>
            <a:ext cx="3067560" cy="480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Insights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1231920" y="5842440"/>
            <a:ext cx="530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3" name="Picture 9" descr=""/>
          <p:cNvPicPr/>
          <p:nvPr/>
        </p:nvPicPr>
        <p:blipFill>
          <a:blip r:embed="rId1"/>
          <a:stretch/>
        </p:blipFill>
        <p:spPr>
          <a:xfrm>
            <a:off x="2682720" y="1061640"/>
            <a:ext cx="6450840" cy="3687120"/>
          </a:xfrm>
          <a:prstGeom prst="rect">
            <a:avLst/>
          </a:prstGeom>
          <a:ln w="0">
            <a:noFill/>
          </a:ln>
        </p:spPr>
      </p:pic>
      <p:sp>
        <p:nvSpPr>
          <p:cNvPr id="124" name="TextBox 10"/>
          <p:cNvSpPr/>
          <p:nvPr/>
        </p:nvSpPr>
        <p:spPr>
          <a:xfrm>
            <a:off x="1267920" y="5169600"/>
            <a:ext cx="102553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In the fiscal year 2020, the highest gross sale is 7.52 million dollars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Gross sales increased tremendously in the fiscal year 2021 with highest gross sales of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20.46 million dollars.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8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17432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In which quarter of 2020, got the maximum total_sold_quantity? The final output contains these fields sorted by the total_sold_quantity: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Quarter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total_sold_quantity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" name="Picture 4" descr=""/>
          <p:cNvPicPr/>
          <p:nvPr/>
        </p:nvPicPr>
        <p:blipFill>
          <a:blip r:embed="rId1"/>
          <a:stretch/>
        </p:blipFill>
        <p:spPr>
          <a:xfrm>
            <a:off x="4013280" y="3940200"/>
            <a:ext cx="3470400" cy="184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Insights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9" name="Straight Arrow Connector 5"/>
          <p:cNvCxnSpPr/>
          <p:nvPr/>
        </p:nvCxnSpPr>
        <p:spPr>
          <a:xfrm>
            <a:off x="5265000" y="2005920"/>
            <a:ext cx="900720" cy="720"/>
          </a:xfrm>
          <a:prstGeom prst="straightConnector1">
            <a:avLst/>
          </a:prstGeom>
          <a:ln cap="rnd" w="0">
            <a:solidFill>
              <a:srgbClr val="ffffff"/>
            </a:solidFill>
            <a:tailEnd len="med" type="arrow" w="med"/>
          </a:ln>
        </p:spPr>
      </p:cxnSp>
      <p:sp>
        <p:nvSpPr>
          <p:cNvPr id="130" name="TextBox 7"/>
          <p:cNvSpPr/>
          <p:nvPr/>
        </p:nvSpPr>
        <p:spPr>
          <a:xfrm>
            <a:off x="1100520" y="4485240"/>
            <a:ext cx="63090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Quarter 1 has more total sold quantity with 7 million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Quarter 3 has low total sold quantity with 10%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Picture 2" descr=""/>
          <p:cNvPicPr/>
          <p:nvPr/>
        </p:nvPicPr>
        <p:blipFill>
          <a:blip r:embed="rId1"/>
          <a:stretch/>
        </p:blipFill>
        <p:spPr>
          <a:xfrm>
            <a:off x="1385640" y="1500840"/>
            <a:ext cx="3280320" cy="174276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4" descr=""/>
          <p:cNvPicPr/>
          <p:nvPr/>
        </p:nvPicPr>
        <p:blipFill>
          <a:blip r:embed="rId2"/>
          <a:stretch/>
        </p:blipFill>
        <p:spPr>
          <a:xfrm>
            <a:off x="6340680" y="727920"/>
            <a:ext cx="5046120" cy="332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9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8080" y="117432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Which channel helped to bring more gross sales in the fiscal year 2021 and the percentage of contribution? The final output contains these fields: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channel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gross_sales_mln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percentage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" name="Picture 5" descr=""/>
          <p:cNvPicPr/>
          <p:nvPr/>
        </p:nvPicPr>
        <p:blipFill>
          <a:blip r:embed="rId1"/>
          <a:stretch/>
        </p:blipFill>
        <p:spPr>
          <a:xfrm>
            <a:off x="3028320" y="4501440"/>
            <a:ext cx="5483520" cy="175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Insights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7" name="Straight Arrow Connector 5"/>
          <p:cNvCxnSpPr/>
          <p:nvPr/>
        </p:nvCxnSpPr>
        <p:spPr>
          <a:xfrm>
            <a:off x="5428440" y="2037960"/>
            <a:ext cx="900720" cy="720"/>
          </a:xfrm>
          <a:prstGeom prst="straightConnector1">
            <a:avLst/>
          </a:prstGeom>
          <a:ln cap="rnd" w="0">
            <a:solidFill>
              <a:srgbClr val="ffffff"/>
            </a:solidFill>
            <a:tailEnd len="med" type="arrow" w="med"/>
          </a:ln>
        </p:spPr>
      </p:cxnSp>
      <p:sp>
        <p:nvSpPr>
          <p:cNvPr id="138" name="TextBox 7"/>
          <p:cNvSpPr/>
          <p:nvPr/>
        </p:nvSpPr>
        <p:spPr>
          <a:xfrm>
            <a:off x="1026720" y="4485240"/>
            <a:ext cx="96192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Retailer channel helps to bring more gross sales with 73.23% in fiscal year 2021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9" name="Picture 3" descr=""/>
          <p:cNvPicPr/>
          <p:nvPr/>
        </p:nvPicPr>
        <p:blipFill>
          <a:blip r:embed="rId1"/>
          <a:stretch/>
        </p:blipFill>
        <p:spPr>
          <a:xfrm>
            <a:off x="991440" y="1356840"/>
            <a:ext cx="4257000" cy="1361880"/>
          </a:xfrm>
          <a:prstGeom prst="rect">
            <a:avLst/>
          </a:prstGeom>
          <a:ln w="0">
            <a:noFill/>
          </a:ln>
        </p:spPr>
      </p:pic>
      <p:pic>
        <p:nvPicPr>
          <p:cNvPr id="140" name="Picture 6" descr=""/>
          <p:cNvPicPr/>
          <p:nvPr/>
        </p:nvPicPr>
        <p:blipFill>
          <a:blip r:embed="rId2"/>
          <a:stretch/>
        </p:blipFill>
        <p:spPr>
          <a:xfrm>
            <a:off x="6558120" y="835920"/>
            <a:ext cx="4325040" cy="297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Request 10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38080" y="1174320"/>
            <a:ext cx="10514880" cy="515592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Question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Get the Top 3 products in each division that have a high total_sold_quantity in the fiscal_year 2021? The final output contains these fields: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division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	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product_code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/>
              </a:rPr>
              <a:t>Output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Picture 7" descr=""/>
          <p:cNvPicPr/>
          <p:nvPr/>
        </p:nvPicPr>
        <p:blipFill>
          <a:blip r:embed="rId1"/>
          <a:stretch/>
        </p:blipFill>
        <p:spPr>
          <a:xfrm>
            <a:off x="2630880" y="3829320"/>
            <a:ext cx="6793920" cy="266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00400"/>
          </a:xfrm>
          <a:prstGeom prst="rect">
            <a:avLst/>
          </a:prstGeom>
          <a:noFill/>
          <a:ln w="0">
            <a:noFill/>
          </a:ln>
          <a:effectLst>
            <a:outerShdw dist="0" dir="0" blurRad="25560" rotWithShape="0">
              <a:srgbClr val="000000">
                <a:alpha val="46000"/>
              </a:srgbClr>
            </a:outerShdw>
          </a:effectLst>
        </p:spPr>
        <p:txBody>
          <a:bodyPr lIns="91440" rIns="91440" tIns="45720" bIns="45720" anchor="ctr">
            <a:normAutofit fontScale="70000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ln>
                  <a:solidFill>
                    <a:schemeClr val="lt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Arial"/>
              </a:rPr>
              <a:t>Insights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357480" y="3888720"/>
            <a:ext cx="11627640" cy="25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In N&amp;S division, top 3 products are Pen drives and their sales are more than the other two division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   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products 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Top 3 products in P&amp;A division are mouses and in PC division are personal computers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Picture 13" descr=""/>
          <p:cNvPicPr/>
          <p:nvPr/>
        </p:nvPicPr>
        <p:blipFill>
          <a:blip r:embed="rId1"/>
          <a:stretch/>
        </p:blipFill>
        <p:spPr>
          <a:xfrm>
            <a:off x="132480" y="1356840"/>
            <a:ext cx="3949920" cy="233856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4" descr=""/>
          <p:cNvPicPr/>
          <p:nvPr/>
        </p:nvPicPr>
        <p:blipFill>
          <a:blip r:embed="rId2"/>
          <a:stretch/>
        </p:blipFill>
        <p:spPr>
          <a:xfrm>
            <a:off x="4233240" y="1356840"/>
            <a:ext cx="3764880" cy="233856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5" descr=""/>
          <p:cNvPicPr/>
          <p:nvPr/>
        </p:nvPicPr>
        <p:blipFill>
          <a:blip r:embed="rId3"/>
          <a:stretch/>
        </p:blipFill>
        <p:spPr>
          <a:xfrm>
            <a:off x="8148600" y="1356840"/>
            <a:ext cx="3910320" cy="233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 pitchFamily="0" charset="1"/>
        <a:ea typeface=""/>
        <a:cs typeface=""/>
      </a:majorFont>
      <a:minorFont>
        <a:latin typeface="Calisto MT" panose="020406030505050303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226</TotalTime>
  <Application>LibreOffice/24.2.1.2$Windows_X86_64 LibreOffice_project/db4def46b0453cc22e2d0305797cf981b68ef5ac</Application>
  <AppVersion>15.0000</AppVersion>
  <Words>697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2023-02-14T18:41:22Z</dcterms:created>
  <dc:creator>Bhargav Anand Chebolu</dc:creator>
  <dc:description/>
  <dc:language>en-IN</dc:language>
  <cp:lastModifiedBy/>
  <dcterms:modified xsi:type="dcterms:W3CDTF">2026-02-09T11:52:07Z</dcterms:modified>
  <cp:revision>20</cp:revision>
  <dc:subject/>
  <dc:title>Consumer Goods Ad_Hoc Insights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19</vt:i4>
  </property>
</Properties>
</file>